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6A4F"/>
        </a:solidFill>
      </p:bgPr>
    </p:bg>
    <p:spTree>
      <p:nvGrpSpPr>
        <p:cNvPr id="1" name=""/>
        <p:cNvGrpSpPr/>
        <p:nvPr/>
      </p:nvGrpSpPr>
      <p:grpSpPr>
        <a:xfrm>
          <a:off x="0" y="0"/>
          <a:ext cx="0" cy="0"/>
          <a:chOff x="0" y="0"/>
          <a:chExt cx="0" cy="0"/>
        </a:xfrm>
      </p:grpSpPr>
      <p:sp>
        <p:nvSpPr>
          <p:cNvPr id="2" name="Text 0"/>
          <p:cNvSpPr/>
          <p:nvPr/>
        </p:nvSpPr>
        <p:spPr>
          <a:xfrm>
            <a:off x="731520" y="1097280"/>
            <a:ext cx="10515600" cy="2926080"/>
          </a:xfrm>
          <a:prstGeom prst="rect">
            <a:avLst/>
          </a:prstGeom>
          <a:noFill/>
          <a:ln/>
        </p:spPr>
        <p:txBody>
          <a:bodyPr wrap="square" rtlCol="0" anchor="ctr"/>
          <a:lstStyle/>
          <a:p>
            <a:pPr algn="l" indent="0" marL="0">
              <a:lnSpc>
                <a:spcPct val="140000"/>
              </a:lnSpc>
              <a:buNone/>
            </a:pPr>
            <a:r>
              <a:rPr lang="en-US" sz="3800" b="1" dirty="0">
                <a:solidFill>
                  <a:srgbClr val="FFFFFF"/>
                </a:solidFill>
                <a:latin typeface="Arial" pitchFamily="34" charset="0"/>
                <a:ea typeface="Arial" pitchFamily="34" charset="-122"/>
                <a:cs typeface="Arial" pitchFamily="34" charset="-120"/>
              </a:rPr>
              <a:t>まごすけみまもり隊</a:t>
            </a:r>
            <a:endParaRPr lang="en-US" sz="3800" dirty="0"/>
          </a:p>
          <a:p>
            <a:pPr algn="l" indent="0" marL="0">
              <a:lnSpc>
                <a:spcPct val="140000"/>
              </a:lnSpc>
              <a:buNone/>
            </a:pPr>
            <a:r>
              <a:rPr lang="en-US" sz="3800" b="1" dirty="0">
                <a:solidFill>
                  <a:srgbClr val="FFFFFF"/>
                </a:solidFill>
                <a:latin typeface="Arial" pitchFamily="34" charset="0"/>
                <a:ea typeface="Arial" pitchFamily="34" charset="-122"/>
                <a:cs typeface="Arial" pitchFamily="34" charset="-120"/>
              </a:rPr>
              <a:t>× ほほえみの郷トイトイ</a:t>
            </a:r>
            <a:endParaRPr lang="en-US" sz="3800" dirty="0"/>
          </a:p>
          <a:p>
            <a:pPr algn="l" indent="0" marL="0">
              <a:lnSpc>
                <a:spcPct val="140000"/>
              </a:lnSpc>
              <a:buNone/>
            </a:pPr>
            <a:r>
              <a:rPr lang="en-US" sz="3800" b="1" dirty="0">
                <a:solidFill>
                  <a:srgbClr val="FFFFFF"/>
                </a:solidFill>
                <a:latin typeface="Arial" pitchFamily="34" charset="0"/>
                <a:ea typeface="Arial" pitchFamily="34" charset="-122"/>
                <a:cs typeface="Arial" pitchFamily="34" charset="-120"/>
              </a:rPr>
              <a:t>共同実証実験のご提案</a:t>
            </a:r>
            <a:endParaRPr lang="en-US" sz="3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
          </a:xfrm>
          <a:prstGeom prst="rect">
            <a:avLst/>
          </a:prstGeom>
          <a:solidFill>
            <a:srgbClr val="2D6A4F"/>
          </a:solidFill>
          <a:ln/>
        </p:spPr>
      </p:sp>
      <p:sp>
        <p:nvSpPr>
          <p:cNvPr id="3" name="Text 1"/>
          <p:cNvSpPr/>
          <p:nvPr/>
        </p:nvSpPr>
        <p:spPr>
          <a:xfrm>
            <a:off x="320040" y="0"/>
            <a:ext cx="1152144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コンテストの結果報告</a:t>
            </a:r>
            <a:endParaRPr lang="en-US" sz="2400" dirty="0"/>
          </a:p>
        </p:txBody>
      </p:sp>
      <p:sp>
        <p:nvSpPr>
          <p:cNvPr id="4" name="Text 2"/>
          <p:cNvSpPr/>
          <p:nvPr/>
        </p:nvSpPr>
        <p:spPr>
          <a:xfrm>
            <a:off x="365760" y="914400"/>
            <a:ext cx="11430000" cy="2194560"/>
          </a:xfrm>
          <a:prstGeom prst="rect">
            <a:avLst/>
          </a:prstGeom>
          <a:noFill/>
          <a:ln/>
        </p:spPr>
        <p:txBody>
          <a:bodyPr wrap="square" rtlCol="0" anchor="t"/>
          <a:lstStyle/>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2026年3月、高齢者向けITサポート事業「まごすけみまもり隊」を構想し、起業コンテストに出場しました</a:t>
            </a:r>
            <a:endParaRPr lang="en-US" sz="1700" dirty="0"/>
          </a:p>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残念ながら賞の受賞には至りませんでしたが、宇部市・山口市の行政関係者の方から「社会的意義がある、ぜひ実現してほしい」とお言葉をいただきました</a:t>
            </a:r>
            <a:endParaRPr lang="en-US" sz="1700" dirty="0"/>
          </a:p>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以前お話しさせていただいた通り、ぜひまず地域でのサービス化を一緒に進めていただけたらと思っています</a:t>
            </a:r>
            <a:endParaRPr lang="en-US" sz="1700" dirty="0"/>
          </a:p>
        </p:txBody>
      </p:sp>
      <p:sp>
        <p:nvSpPr>
          <p:cNvPr id="5" name="Shape 3"/>
          <p:cNvSpPr/>
          <p:nvPr/>
        </p:nvSpPr>
        <p:spPr>
          <a:xfrm>
            <a:off x="365760" y="3291840"/>
            <a:ext cx="11430000" cy="822960"/>
          </a:xfrm>
          <a:prstGeom prst="roundRect">
            <a:avLst>
              <a:gd name="adj" fmla="val 8889"/>
            </a:avLst>
          </a:prstGeom>
          <a:solidFill>
            <a:srgbClr val="F0FAF4"/>
          </a:solidFill>
          <a:ln w="25400">
            <a:solidFill>
              <a:srgbClr val="74C69D"/>
            </a:solidFill>
            <a:prstDash val="solid"/>
          </a:ln>
        </p:spPr>
      </p:sp>
      <p:sp>
        <p:nvSpPr>
          <p:cNvPr id="6" name="Text 4"/>
          <p:cNvSpPr/>
          <p:nvPr/>
        </p:nvSpPr>
        <p:spPr>
          <a:xfrm>
            <a:off x="502920" y="3364992"/>
            <a:ext cx="11155680" cy="676656"/>
          </a:xfrm>
          <a:prstGeom prst="rect">
            <a:avLst/>
          </a:prstGeom>
          <a:noFill/>
          <a:ln/>
        </p:spPr>
        <p:txBody>
          <a:bodyPr wrap="square" rtlCol="0" anchor="ctr"/>
          <a:lstStyle/>
          <a:p>
            <a:pPr indent="0" marL="0">
              <a:lnSpc>
                <a:spcPct val="130000"/>
              </a:lnSpc>
              <a:buNone/>
            </a:pPr>
            <a:r>
              <a:rPr lang="en-US" sz="1600" dirty="0">
                <a:solidFill>
                  <a:srgbClr val="1B4332"/>
                </a:solidFill>
                <a:latin typeface="Arial" pitchFamily="34" charset="0"/>
                <a:ea typeface="Arial" pitchFamily="34" charset="-122"/>
                <a:cs typeface="Arial" pitchFamily="34" charset="-120"/>
              </a:rPr>
              <a:t>現在の状況：2026年3月、個人事業主として正式に開業届を提出しました。</a:t>
            </a:r>
            <a:endParaRPr lang="en-US" sz="1600" dirty="0"/>
          </a:p>
          <a:p>
            <a:pPr indent="0" marL="0">
              <a:lnSpc>
                <a:spcPct val="130000"/>
              </a:lnSpc>
              <a:buNone/>
            </a:pPr>
            <a:r>
              <a:rPr lang="en-US" sz="1600" dirty="0">
                <a:solidFill>
                  <a:srgbClr val="1B4332"/>
                </a:solidFill>
                <a:latin typeface="Arial" pitchFamily="34" charset="0"/>
                <a:ea typeface="Arial" pitchFamily="34" charset="-122"/>
                <a:cs typeface="Arial" pitchFamily="34" charset="-120"/>
              </a:rPr>
              <a:t>座組をしっかり組んだうえで、実証実験から始めたいと考えています。</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
          </a:xfrm>
          <a:prstGeom prst="rect">
            <a:avLst/>
          </a:prstGeom>
          <a:solidFill>
            <a:srgbClr val="2D6A4F"/>
          </a:solidFill>
          <a:ln/>
        </p:spPr>
      </p:sp>
      <p:sp>
        <p:nvSpPr>
          <p:cNvPr id="3" name="Text 1"/>
          <p:cNvSpPr/>
          <p:nvPr/>
        </p:nvSpPr>
        <p:spPr>
          <a:xfrm>
            <a:off x="320040" y="0"/>
            <a:ext cx="1152144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まごすけみまもり隊とは</a:t>
            </a:r>
            <a:endParaRPr lang="en-US" sz="2400" dirty="0"/>
          </a:p>
        </p:txBody>
      </p:sp>
      <p:sp>
        <p:nvSpPr>
          <p:cNvPr id="4" name="Text 2"/>
          <p:cNvSpPr/>
          <p:nvPr/>
        </p:nvSpPr>
        <p:spPr>
          <a:xfrm>
            <a:off x="365760" y="914400"/>
            <a:ext cx="11430000" cy="347472"/>
          </a:xfrm>
          <a:prstGeom prst="rect">
            <a:avLst/>
          </a:prstGeom>
          <a:noFill/>
          <a:ln/>
        </p:spPr>
        <p:txBody>
          <a:bodyPr wrap="square" rtlCol="0" anchor="ctr"/>
          <a:lstStyle/>
          <a:p>
            <a:pPr indent="0" marL="0">
              <a:buNone/>
            </a:pPr>
            <a:r>
              <a:rPr lang="en-US" sz="1500" b="1" dirty="0">
                <a:solidFill>
                  <a:srgbClr val="444444"/>
                </a:solidFill>
                <a:latin typeface="Arial" pitchFamily="34" charset="0"/>
                <a:ea typeface="Arial" pitchFamily="34" charset="-122"/>
                <a:cs typeface="Arial" pitchFamily="34" charset="-120"/>
              </a:rPr>
              <a:t>コンセプト：「地区のまご」として、高齢者が地域の中で孤立しないようにつなぐ</a:t>
            </a:r>
            <a:endParaRPr lang="en-US" sz="1500" dirty="0"/>
          </a:p>
        </p:txBody>
      </p:sp>
      <p:sp>
        <p:nvSpPr>
          <p:cNvPr id="5" name="Shape 3"/>
          <p:cNvSpPr/>
          <p:nvPr/>
        </p:nvSpPr>
        <p:spPr>
          <a:xfrm>
            <a:off x="274320" y="1371600"/>
            <a:ext cx="3749040" cy="2331720"/>
          </a:xfrm>
          <a:prstGeom prst="roundRect">
            <a:avLst>
              <a:gd name="adj" fmla="val 3137"/>
            </a:avLst>
          </a:prstGeom>
          <a:solidFill>
            <a:srgbClr val="F0FAF4"/>
          </a:solidFill>
          <a:ln w="25400">
            <a:solidFill>
              <a:srgbClr val="74C69D"/>
            </a:solidFill>
            <a:prstDash val="solid"/>
          </a:ln>
        </p:spPr>
      </p:sp>
      <p:sp>
        <p:nvSpPr>
          <p:cNvPr id="6" name="Text 4"/>
          <p:cNvSpPr/>
          <p:nvPr/>
        </p:nvSpPr>
        <p:spPr>
          <a:xfrm>
            <a:off x="384048" y="1444752"/>
            <a:ext cx="3529584" cy="320040"/>
          </a:xfrm>
          <a:prstGeom prst="rect">
            <a:avLst/>
          </a:prstGeom>
          <a:noFill/>
          <a:ln/>
        </p:spPr>
        <p:txBody>
          <a:bodyPr wrap="square" rtlCol="0" anchor="ctr"/>
          <a:lstStyle/>
          <a:p>
            <a:pPr indent="0" marL="0">
              <a:buNone/>
            </a:pPr>
            <a:r>
              <a:rPr lang="en-US" sz="1500" b="1" dirty="0">
                <a:solidFill>
                  <a:srgbClr val="40916C"/>
                </a:solidFill>
                <a:latin typeface="Arial" pitchFamily="34" charset="0"/>
                <a:ea typeface="Arial" pitchFamily="34" charset="-122"/>
                <a:cs typeface="Arial" pitchFamily="34" charset="-120"/>
              </a:rPr>
              <a:t>高齢者の方へ</a:t>
            </a:r>
            <a:endParaRPr lang="en-US" sz="1500" dirty="0"/>
          </a:p>
        </p:txBody>
      </p:sp>
      <p:sp>
        <p:nvSpPr>
          <p:cNvPr id="7" name="Text 5"/>
          <p:cNvSpPr/>
          <p:nvPr/>
        </p:nvSpPr>
        <p:spPr>
          <a:xfrm>
            <a:off x="384048" y="1783080"/>
            <a:ext cx="3529584" cy="1828800"/>
          </a:xfrm>
          <a:prstGeom prst="rect">
            <a:avLst/>
          </a:prstGeom>
          <a:noFill/>
          <a:ln/>
        </p:spPr>
        <p:txBody>
          <a:bodyPr wrap="square" rtlCol="0" anchor="t"/>
          <a:lstStyle/>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Alexa端末を設置し、家族・友人・地域の人と気軽に話せるように</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機器の操作はすべてサポート</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定期的な訪問で安心していただく</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困っていることを一緒に解決。一人にしない、孤立させない</a:t>
            </a:r>
            <a:endParaRPr lang="en-US" sz="1300" dirty="0"/>
          </a:p>
        </p:txBody>
      </p:sp>
      <p:sp>
        <p:nvSpPr>
          <p:cNvPr id="8" name="Shape 6"/>
          <p:cNvSpPr/>
          <p:nvPr/>
        </p:nvSpPr>
        <p:spPr>
          <a:xfrm>
            <a:off x="4206240" y="1371600"/>
            <a:ext cx="3749040" cy="2331720"/>
          </a:xfrm>
          <a:prstGeom prst="roundRect">
            <a:avLst>
              <a:gd name="adj" fmla="val 3137"/>
            </a:avLst>
          </a:prstGeom>
          <a:solidFill>
            <a:srgbClr val="F0FAF4"/>
          </a:solidFill>
          <a:ln w="25400">
            <a:solidFill>
              <a:srgbClr val="74C69D"/>
            </a:solidFill>
            <a:prstDash val="solid"/>
          </a:ln>
        </p:spPr>
      </p:sp>
      <p:sp>
        <p:nvSpPr>
          <p:cNvPr id="9" name="Text 7"/>
          <p:cNvSpPr/>
          <p:nvPr/>
        </p:nvSpPr>
        <p:spPr>
          <a:xfrm>
            <a:off x="4315968" y="1444752"/>
            <a:ext cx="3529584" cy="320040"/>
          </a:xfrm>
          <a:prstGeom prst="rect">
            <a:avLst/>
          </a:prstGeom>
          <a:noFill/>
          <a:ln/>
        </p:spPr>
        <p:txBody>
          <a:bodyPr wrap="square" rtlCol="0" anchor="ctr"/>
          <a:lstStyle/>
          <a:p>
            <a:pPr indent="0" marL="0">
              <a:buNone/>
            </a:pPr>
            <a:r>
              <a:rPr lang="en-US" sz="1500" b="1" dirty="0">
                <a:solidFill>
                  <a:srgbClr val="40916C"/>
                </a:solidFill>
                <a:latin typeface="Arial" pitchFamily="34" charset="0"/>
                <a:ea typeface="Arial" pitchFamily="34" charset="-122"/>
                <a:cs typeface="Arial" pitchFamily="34" charset="-120"/>
              </a:rPr>
              <a:t>ご家族の方へ</a:t>
            </a:r>
            <a:endParaRPr lang="en-US" sz="1500" dirty="0"/>
          </a:p>
        </p:txBody>
      </p:sp>
      <p:sp>
        <p:nvSpPr>
          <p:cNvPr id="10" name="Text 8"/>
          <p:cNvSpPr/>
          <p:nvPr/>
        </p:nvSpPr>
        <p:spPr>
          <a:xfrm>
            <a:off x="4315968" y="1783080"/>
            <a:ext cx="3529584" cy="1828800"/>
          </a:xfrm>
          <a:prstGeom prst="rect">
            <a:avLst/>
          </a:prstGeom>
          <a:noFill/>
          <a:ln/>
        </p:spPr>
        <p:txBody>
          <a:bodyPr wrap="square" rtlCol="0" anchor="t"/>
          <a:lstStyle/>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遠方からでも顔を見て話せる安心感</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地域の人がサポートしてくれる体制があれば、離れて暮らすことへの不安が減る</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帰省した時に、純粋に帰省を楽しめる</a:t>
            </a:r>
            <a:endParaRPr lang="en-US" sz="1300" dirty="0"/>
          </a:p>
        </p:txBody>
      </p:sp>
      <p:sp>
        <p:nvSpPr>
          <p:cNvPr id="11" name="Shape 9"/>
          <p:cNvSpPr/>
          <p:nvPr/>
        </p:nvSpPr>
        <p:spPr>
          <a:xfrm>
            <a:off x="8138160" y="1371600"/>
            <a:ext cx="3749040" cy="2331720"/>
          </a:xfrm>
          <a:prstGeom prst="roundRect">
            <a:avLst>
              <a:gd name="adj" fmla="val 3137"/>
            </a:avLst>
          </a:prstGeom>
          <a:solidFill>
            <a:srgbClr val="F0FAF4"/>
          </a:solidFill>
          <a:ln w="25400">
            <a:solidFill>
              <a:srgbClr val="74C69D"/>
            </a:solidFill>
            <a:prstDash val="solid"/>
          </a:ln>
        </p:spPr>
      </p:sp>
      <p:sp>
        <p:nvSpPr>
          <p:cNvPr id="12" name="Text 10"/>
          <p:cNvSpPr/>
          <p:nvPr/>
        </p:nvSpPr>
        <p:spPr>
          <a:xfrm>
            <a:off x="8247888" y="1444752"/>
            <a:ext cx="3529584" cy="320040"/>
          </a:xfrm>
          <a:prstGeom prst="rect">
            <a:avLst/>
          </a:prstGeom>
          <a:noFill/>
          <a:ln/>
        </p:spPr>
        <p:txBody>
          <a:bodyPr wrap="square" rtlCol="0" anchor="ctr"/>
          <a:lstStyle/>
          <a:p>
            <a:pPr indent="0" marL="0">
              <a:buNone/>
            </a:pPr>
            <a:r>
              <a:rPr lang="en-US" sz="1500" b="1" dirty="0">
                <a:solidFill>
                  <a:srgbClr val="40916C"/>
                </a:solidFill>
                <a:latin typeface="Arial" pitchFamily="34" charset="0"/>
                <a:ea typeface="Arial" pitchFamily="34" charset="-122"/>
                <a:cs typeface="Arial" pitchFamily="34" charset="-120"/>
              </a:rPr>
              <a:t>地域の事業者の方へ</a:t>
            </a:r>
            <a:endParaRPr lang="en-US" sz="1500" dirty="0"/>
          </a:p>
        </p:txBody>
      </p:sp>
      <p:sp>
        <p:nvSpPr>
          <p:cNvPr id="13" name="Text 11"/>
          <p:cNvSpPr/>
          <p:nvPr/>
        </p:nvSpPr>
        <p:spPr>
          <a:xfrm>
            <a:off x="8247888" y="1783080"/>
            <a:ext cx="3529584" cy="1828800"/>
          </a:xfrm>
          <a:prstGeom prst="rect">
            <a:avLst/>
          </a:prstGeom>
          <a:noFill/>
          <a:ln/>
        </p:spPr>
        <p:txBody>
          <a:bodyPr wrap="square" rtlCol="0" anchor="t"/>
          <a:lstStyle/>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高齢者とのやり取りのデジタル化で、これまで手間だったことが楽になる</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これまでできなかったことへの足がかりになる</a:t>
            </a:r>
            <a:endParaRPr lang="en-US" sz="1300" dirty="0"/>
          </a:p>
        </p:txBody>
      </p:sp>
      <p:sp>
        <p:nvSpPr>
          <p:cNvPr id="14" name="Shape 12"/>
          <p:cNvSpPr/>
          <p:nvPr/>
        </p:nvSpPr>
        <p:spPr>
          <a:xfrm>
            <a:off x="274320" y="3063240"/>
            <a:ext cx="11612880" cy="914400"/>
          </a:xfrm>
          <a:prstGeom prst="roundRect">
            <a:avLst>
              <a:gd name="adj" fmla="val 8000"/>
            </a:avLst>
          </a:prstGeom>
          <a:solidFill>
            <a:srgbClr val="F0FAF4"/>
          </a:solidFill>
          <a:ln w="25400">
            <a:solidFill>
              <a:srgbClr val="74C69D"/>
            </a:solidFill>
            <a:prstDash val="solid"/>
          </a:ln>
        </p:spPr>
      </p:sp>
      <p:sp>
        <p:nvSpPr>
          <p:cNvPr id="15" name="Text 13"/>
          <p:cNvSpPr/>
          <p:nvPr/>
        </p:nvSpPr>
        <p:spPr>
          <a:xfrm>
            <a:off x="411480" y="3136392"/>
            <a:ext cx="11338560" cy="768096"/>
          </a:xfrm>
          <a:prstGeom prst="rect">
            <a:avLst/>
          </a:prstGeom>
          <a:noFill/>
          <a:ln/>
        </p:spPr>
        <p:txBody>
          <a:bodyPr wrap="square" rtlCol="0" anchor="ctr"/>
          <a:lstStyle/>
          <a:p>
            <a:pPr indent="0" marL="0">
              <a:lnSpc>
                <a:spcPct val="130000"/>
              </a:lnSpc>
              <a:buNone/>
            </a:pPr>
            <a:r>
              <a:rPr lang="en-US" sz="1300" dirty="0">
                <a:solidFill>
                  <a:srgbClr val="1B4332"/>
                </a:solidFill>
                <a:latin typeface="Arial" pitchFamily="34" charset="0"/>
                <a:ea typeface="Arial" pitchFamily="34" charset="-122"/>
                <a:cs typeface="Arial" pitchFamily="34" charset="-120"/>
              </a:rPr>
              <a:t>目指すもの：高齢者の孤立という問題を、各家庭に任せるのではなく地域みんなで解決できる仕組みに。高齢者の方を支援することで、現役世代の方の負担を軽減し、ご家族とより良い関係を築くことができると考えています。</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
          </a:xfrm>
          <a:prstGeom prst="rect">
            <a:avLst/>
          </a:prstGeom>
          <a:solidFill>
            <a:srgbClr val="2D6A4F"/>
          </a:solidFill>
          <a:ln/>
        </p:spPr>
      </p:sp>
      <p:sp>
        <p:nvSpPr>
          <p:cNvPr id="3" name="Text 1"/>
          <p:cNvSpPr/>
          <p:nvPr/>
        </p:nvSpPr>
        <p:spPr>
          <a:xfrm>
            <a:off x="320040" y="0"/>
            <a:ext cx="1152144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共同で実証実験を行わせていただきたいです</a:t>
            </a:r>
            <a:endParaRPr lang="en-US" sz="2400" dirty="0"/>
          </a:p>
        </p:txBody>
      </p:sp>
      <p:sp>
        <p:nvSpPr>
          <p:cNvPr id="4" name="Shape 2"/>
          <p:cNvSpPr/>
          <p:nvPr/>
        </p:nvSpPr>
        <p:spPr>
          <a:xfrm>
            <a:off x="365760" y="868680"/>
            <a:ext cx="11430000" cy="548640"/>
          </a:xfrm>
          <a:prstGeom prst="roundRect">
            <a:avLst>
              <a:gd name="adj" fmla="val 13333"/>
            </a:avLst>
          </a:prstGeom>
          <a:solidFill>
            <a:srgbClr val="F0FAF4"/>
          </a:solidFill>
          <a:ln w="25400">
            <a:solidFill>
              <a:srgbClr val="74C69D"/>
            </a:solidFill>
            <a:prstDash val="solid"/>
          </a:ln>
        </p:spPr>
      </p:sp>
      <p:sp>
        <p:nvSpPr>
          <p:cNvPr id="5" name="Text 3"/>
          <p:cNvSpPr/>
          <p:nvPr/>
        </p:nvSpPr>
        <p:spPr>
          <a:xfrm>
            <a:off x="502920" y="941832"/>
            <a:ext cx="11155680" cy="402336"/>
          </a:xfrm>
          <a:prstGeom prst="rect">
            <a:avLst/>
          </a:prstGeom>
          <a:noFill/>
          <a:ln/>
        </p:spPr>
        <p:txBody>
          <a:bodyPr wrap="square" rtlCol="0" anchor="ctr"/>
          <a:lstStyle/>
          <a:p>
            <a:pPr indent="0" marL="0">
              <a:lnSpc>
                <a:spcPct val="130000"/>
              </a:lnSpc>
              <a:buNone/>
            </a:pPr>
            <a:r>
              <a:rPr lang="en-US" sz="1600" dirty="0">
                <a:solidFill>
                  <a:srgbClr val="1B4332"/>
                </a:solidFill>
                <a:latin typeface="Arial" pitchFamily="34" charset="0"/>
                <a:ea typeface="Arial" pitchFamily="34" charset="-122"/>
                <a:cs typeface="Arial" pitchFamily="34" charset="-120"/>
              </a:rPr>
              <a:t>高齢者3名程度のお宅にAlexa端末を設置し、3ヶ月間使っていただく</a:t>
            </a:r>
            <a:endParaRPr lang="en-US" sz="1600" dirty="0"/>
          </a:p>
        </p:txBody>
      </p:sp>
      <p:sp>
        <p:nvSpPr>
          <p:cNvPr id="6" name="Text 4"/>
          <p:cNvSpPr/>
          <p:nvPr/>
        </p:nvSpPr>
        <p:spPr>
          <a:xfrm>
            <a:off x="365760" y="1554480"/>
            <a:ext cx="11430000" cy="274320"/>
          </a:xfrm>
          <a:prstGeom prst="rect">
            <a:avLst/>
          </a:prstGeom>
          <a:noFill/>
          <a:ln/>
        </p:spPr>
        <p:txBody>
          <a:bodyPr wrap="square" rtlCol="0" anchor="ctr"/>
          <a:lstStyle/>
          <a:p>
            <a:pPr indent="0" marL="0">
              <a:buNone/>
            </a:pPr>
            <a:r>
              <a:rPr lang="en-US" sz="1600" b="1" dirty="0">
                <a:solidFill>
                  <a:srgbClr val="40916C"/>
                </a:solidFill>
                <a:latin typeface="Arial" pitchFamily="34" charset="0"/>
                <a:ea typeface="Arial" pitchFamily="34" charset="-122"/>
                <a:cs typeface="Arial" pitchFamily="34" charset="-120"/>
              </a:rPr>
              <a:t>具体的な流れ</a:t>
            </a:r>
            <a:endParaRPr lang="en-US" sz="1600" dirty="0"/>
          </a:p>
        </p:txBody>
      </p:sp>
      <p:sp>
        <p:nvSpPr>
          <p:cNvPr id="7" name="Text 5"/>
          <p:cNvSpPr/>
          <p:nvPr/>
        </p:nvSpPr>
        <p:spPr>
          <a:xfrm>
            <a:off x="365760" y="1874520"/>
            <a:ext cx="11430000" cy="2148840"/>
          </a:xfrm>
          <a:prstGeom prst="rect">
            <a:avLst/>
          </a:prstGeom>
          <a:noFill/>
          <a:ln/>
        </p:spPr>
        <p:txBody>
          <a:bodyPr wrap="square" rtlCol="0" anchor="t"/>
          <a:lstStyle/>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Alexa端末・Wi-Fiを設置し接続</a:t>
            </a:r>
            <a:endParaRPr lang="en-US" sz="1700" dirty="0"/>
          </a:p>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まず家族とビデオ通話ができるように設定。慣れてきたらご友人も追加</a:t>
            </a:r>
            <a:endParaRPr lang="en-US" sz="1700" dirty="0"/>
          </a:p>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トイトイとの連携・移動販売へのリクエスト機能を試す</a:t>
            </a:r>
            <a:endParaRPr lang="en-US" sz="1700" dirty="0"/>
          </a:p>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電話や紙でやり取りしていることをデジタルに置き換えられないか実験</a:t>
            </a:r>
            <a:endParaRPr lang="en-US" sz="1700" dirty="0"/>
          </a:p>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まごすけとして有田が定期的に訪問し、使用感の確認・サポートを行う</a:t>
            </a:r>
            <a:endParaRPr lang="en-US" sz="1700" dirty="0"/>
          </a:p>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訪問を行う中で発見した高齢者の個別の課題に対応（いわゆるご用聞きのイメージ）</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3291840"/>
          <a:ext cx="11430000" cy="914400"/>
        </p:xfrm>
        <a:graphic>
          <a:graphicData uri="http://schemas.openxmlformats.org/drawingml/2006/table">
            <a:tbl>
              <a:tblPr/>
              <a:tblGrid>
                <a:gridCol w="3810000"/>
                <a:gridCol w="3810000"/>
                <a:gridCol w="3810000"/>
              </a:tblGrid>
              <a:tr h="384048">
                <a:tc>
                  <a:txBody>
                    <a:bodyPr/>
                    <a:lstStyle/>
                    <a:p>
                      <a:pPr indent="0" marL="0">
                        <a:buNone/>
                      </a:pPr>
                      <a:r>
                        <a:rPr lang="en-US" sz="1400" b="1" dirty="0">
                          <a:solidFill>
                            <a:srgbClr val="FFFFFF"/>
                          </a:solidFill>
                          <a:latin typeface="Arial" pitchFamily="34" charset="0"/>
                          <a:ea typeface="Arial" pitchFamily="34" charset="-122"/>
                          <a:cs typeface="Arial" pitchFamily="34" charset="-120"/>
                        </a:rPr>
                        <a:t>期間</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40916C"/>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対象</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40916C"/>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エリア</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40916C"/>
                    </a:solidFill>
                  </a:tcPr>
                </a:tc>
              </a:tr>
              <a:tr h="384048">
                <a:tc>
                  <a:txBody>
                    <a:bodyPr/>
                    <a:lstStyle/>
                    <a:p>
                      <a:pPr indent="0" marL="0">
                        <a:buNone/>
                      </a:pPr>
                      <a:r>
                        <a:rPr lang="en-US" sz="1400" dirty="0">
                          <a:solidFill>
                            <a:srgbClr val="000000"/>
                          </a:solidFill>
                          <a:latin typeface="Arial" pitchFamily="34" charset="0"/>
                          <a:ea typeface="Arial" pitchFamily="34" charset="-122"/>
                          <a:cs typeface="Arial" pitchFamily="34" charset="-120"/>
                        </a:rPr>
                        <a:t>3ヶ月（4〜6月予定）</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高齢者1〜2名から</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可能であれば移動販売車のルート</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
          </a:xfrm>
          <a:prstGeom prst="rect">
            <a:avLst/>
          </a:prstGeom>
          <a:solidFill>
            <a:srgbClr val="2D6A4F"/>
          </a:solidFill>
          <a:ln/>
        </p:spPr>
      </p:sp>
      <p:sp>
        <p:nvSpPr>
          <p:cNvPr id="3" name="Text 1"/>
          <p:cNvSpPr/>
          <p:nvPr/>
        </p:nvSpPr>
        <p:spPr>
          <a:xfrm>
            <a:off x="320040" y="0"/>
            <a:ext cx="1152144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役割分担（座組）</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868680"/>
          <a:ext cx="5669280" cy="914400"/>
        </p:xfrm>
        <a:graphic>
          <a:graphicData uri="http://schemas.openxmlformats.org/drawingml/2006/table">
            <a:tbl>
              <a:tblPr/>
              <a:tblGrid>
                <a:gridCol w="5669280"/>
              </a:tblGrid>
              <a:tr h="384048">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有田（まごすけみまもり隊）</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40916C"/>
                    </a:solidFill>
                  </a:tcPr>
                </a:tc>
              </a:tr>
              <a:tr h="384048">
                <a:tc>
                  <a:txBody>
                    <a:bodyPr/>
                    <a:lstStyle/>
                    <a:p>
                      <a:pPr indent="0" marL="0">
                        <a:buNone/>
                      </a:pPr>
                      <a:r>
                        <a:rPr lang="en-US" sz="1400" b="1" dirty="0">
                          <a:solidFill>
                            <a:srgbClr val="1B4332"/>
                          </a:solidFill>
                          <a:latin typeface="Arial" pitchFamily="34" charset="0"/>
                          <a:ea typeface="Arial" pitchFamily="34" charset="-122"/>
                          <a:cs typeface="Arial" pitchFamily="34" charset="-120"/>
                        </a:rPr>
                        <a:t>機器準備・費用</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Alexa端末・Wi-Fi機器の手配、費用全額負担</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r>
              <a:tr h="384048">
                <a:tc>
                  <a:txBody>
                    <a:bodyPr/>
                    <a:lstStyle/>
                    <a:p>
                      <a:pPr indent="0" marL="0">
                        <a:buNone/>
                      </a:pPr>
                      <a:r>
                        <a:rPr lang="en-US" sz="1400" b="1" dirty="0">
                          <a:solidFill>
                            <a:srgbClr val="1B4332"/>
                          </a:solidFill>
                          <a:latin typeface="Arial" pitchFamily="34" charset="0"/>
                          <a:ea typeface="Arial" pitchFamily="34" charset="-122"/>
                          <a:cs typeface="Arial" pitchFamily="34" charset="-120"/>
                        </a:rPr>
                        <a:t>アカウント・設定</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Amazonアカウントおよびアプリのセットアップ一式</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r>
              <a:tr h="384048">
                <a:tc>
                  <a:txBody>
                    <a:bodyPr/>
                    <a:lstStyle/>
                    <a:p>
                      <a:pPr indent="0" marL="0">
                        <a:buNone/>
                      </a:pPr>
                      <a:r>
                        <a:rPr lang="en-US" sz="1400" b="1" dirty="0">
                          <a:solidFill>
                            <a:srgbClr val="1B4332"/>
                          </a:solidFill>
                          <a:latin typeface="Arial" pitchFamily="34" charset="0"/>
                          <a:ea typeface="Arial" pitchFamily="34" charset="-122"/>
                          <a:cs typeface="Arial" pitchFamily="34" charset="-120"/>
                        </a:rPr>
                        <a:t>設置・レクチャー</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現地設置、操作説明</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r>
              <a:tr h="384048">
                <a:tc>
                  <a:txBody>
                    <a:bodyPr/>
                    <a:lstStyle/>
                    <a:p>
                      <a:pPr indent="0" marL="0">
                        <a:buNone/>
                      </a:pPr>
                      <a:r>
                        <a:rPr lang="en-US" sz="1400" b="1" dirty="0">
                          <a:solidFill>
                            <a:srgbClr val="1B4332"/>
                          </a:solidFill>
                          <a:latin typeface="Arial" pitchFamily="34" charset="0"/>
                          <a:ea typeface="Arial" pitchFamily="34" charset="-122"/>
                          <a:cs typeface="Arial" pitchFamily="34" charset="-120"/>
                        </a:rPr>
                        <a:t>継続サポート</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定期訪問、技術的なトラブル対応</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17920" y="868680"/>
          <a:ext cx="5669280" cy="914400"/>
        </p:xfrm>
        <a:graphic>
          <a:graphicData uri="http://schemas.openxmlformats.org/drawingml/2006/table">
            <a:tbl>
              <a:tblPr/>
              <a:tblGrid>
                <a:gridCol w="5669280"/>
              </a:tblGrid>
              <a:tr h="384048">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ほほえみの郷トイトイさん</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40916C"/>
                    </a:solidFill>
                  </a:tcPr>
                </a:tc>
              </a:tr>
              <a:tr h="384048">
                <a:tc>
                  <a:txBody>
                    <a:bodyPr/>
                    <a:lstStyle/>
                    <a:p>
                      <a:pPr indent="0" marL="0">
                        <a:buNone/>
                      </a:pPr>
                      <a:r>
                        <a:rPr lang="en-US" sz="1400" b="1" dirty="0">
                          <a:solidFill>
                            <a:srgbClr val="1B4332"/>
                          </a:solidFill>
                          <a:latin typeface="Arial" pitchFamily="34" charset="0"/>
                          <a:ea typeface="Arial" pitchFamily="34" charset="-122"/>
                          <a:cs typeface="Arial" pitchFamily="34" charset="-120"/>
                        </a:rPr>
                        <a:t>高齢者の発掘</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実験に前向きな方のご紹介</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r>
              <a:tr h="384048">
                <a:tc>
                  <a:txBody>
                    <a:bodyPr/>
                    <a:lstStyle/>
                    <a:p>
                      <a:pPr indent="0" marL="0">
                        <a:buNone/>
                      </a:pPr>
                      <a:r>
                        <a:rPr lang="en-US" sz="1400" b="1" dirty="0">
                          <a:solidFill>
                            <a:srgbClr val="1B4332"/>
                          </a:solidFill>
                          <a:latin typeface="Arial" pitchFamily="34" charset="0"/>
                          <a:ea typeface="Arial" pitchFamily="34" charset="-122"/>
                          <a:cs typeface="Arial" pitchFamily="34" charset="-120"/>
                        </a:rPr>
                        <a:t>設置時の同行</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初回設置に同行いただきたい</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r>
              <a:tr h="384048">
                <a:tc>
                  <a:txBody>
                    <a:bodyPr/>
                    <a:lstStyle/>
                    <a:p>
                      <a:pPr indent="0" marL="0">
                        <a:buNone/>
                      </a:pPr>
                      <a:r>
                        <a:rPr lang="en-US" sz="1400" b="1" dirty="0">
                          <a:solidFill>
                            <a:srgbClr val="1B4332"/>
                          </a:solidFill>
                          <a:latin typeface="Arial" pitchFamily="34" charset="0"/>
                          <a:ea typeface="Arial" pitchFamily="34" charset="-122"/>
                          <a:cs typeface="Arial" pitchFamily="34" charset="-120"/>
                        </a:rPr>
                        <a:t>地域への展開</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ご近所・ご友人への広がりを探っていただく</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r>
              <a:tr h="384048">
                <a:tc>
                  <a:txBody>
                    <a:bodyPr/>
                    <a:lstStyle/>
                    <a:p>
                      <a:pPr indent="0" marL="0">
                        <a:buNone/>
                      </a:pPr>
                      <a:r>
                        <a:rPr lang="en-US" sz="1400" b="1" dirty="0">
                          <a:solidFill>
                            <a:srgbClr val="1B4332"/>
                          </a:solidFill>
                          <a:latin typeface="Arial" pitchFamily="34" charset="0"/>
                          <a:ea typeface="Arial" pitchFamily="34" charset="-122"/>
                          <a:cs typeface="Arial" pitchFamily="34" charset="-120"/>
                        </a:rPr>
                        <a:t>事業アイデア</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事業として何が有用かを一緒に考えていただきたい</a:t>
                      </a:r>
                      <a:endParaRPr lang="en-US" sz="1400" dirty="0">
                        <a:latin typeface="Arial" charset="0"/>
                        <a:ea typeface="Arial" charset="0"/>
                        <a:cs typeface="Arial" charset="0"/>
                      </a:endParaRPr>
                    </a:p>
                  </a:txBody>
                  <a:tcPr marL="91440" marR="91440" marT="45720" marB="45720">
                    <a:lnL w="12700" cap="flat" cmpd="sng" algn="ctr">
                      <a:solidFill>
                        <a:srgbClr val="74C69D"/>
                      </a:solidFill>
                      <a:prstDash val="solid"/>
                      <a:round/>
                      <a:headEnd type="none" w="med" len="med"/>
                      <a:tailEnd type="none" w="med" len="med"/>
                    </a:lnL>
                    <a:lnR w="12700" cap="flat" cmpd="sng" algn="ctr">
                      <a:solidFill>
                        <a:srgbClr val="74C69D"/>
                      </a:solidFill>
                      <a:prstDash val="solid"/>
                      <a:round/>
                      <a:headEnd type="none" w="med" len="med"/>
                      <a:tailEnd type="none" w="med" len="med"/>
                    </a:lnR>
                    <a:lnT w="12700" cap="flat" cmpd="sng" algn="ctr">
                      <a:solidFill>
                        <a:srgbClr val="74C69D"/>
                      </a:solidFill>
                      <a:prstDash val="solid"/>
                      <a:round/>
                      <a:headEnd type="none" w="med" len="med"/>
                      <a:tailEnd type="none" w="med" len="med"/>
                    </a:lnT>
                    <a:lnB w="12700" cap="flat" cmpd="sng" algn="ctr">
                      <a:solidFill>
                        <a:srgbClr val="74C69D"/>
                      </a:solidFill>
                      <a:prstDash val="solid"/>
                      <a:round/>
                      <a:headEnd type="none" w="med" len="med"/>
                      <a:tailEnd type="none" w="med" len="med"/>
                    </a:lnB>
                    <a:solidFill>
                      <a:srgbClr val="F0FAF4"/>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
          </a:xfrm>
          <a:prstGeom prst="rect">
            <a:avLst/>
          </a:prstGeom>
          <a:solidFill>
            <a:srgbClr val="2D6A4F"/>
          </a:solidFill>
          <a:ln/>
        </p:spPr>
      </p:sp>
      <p:sp>
        <p:nvSpPr>
          <p:cNvPr id="3" name="Text 1"/>
          <p:cNvSpPr/>
          <p:nvPr/>
        </p:nvSpPr>
        <p:spPr>
          <a:xfrm>
            <a:off x="320040" y="0"/>
            <a:ext cx="1152144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ご相談項目</a:t>
            </a:r>
            <a:endParaRPr lang="en-US" sz="2400" dirty="0"/>
          </a:p>
        </p:txBody>
      </p:sp>
      <p:sp>
        <p:nvSpPr>
          <p:cNvPr id="4" name="Shape 2"/>
          <p:cNvSpPr/>
          <p:nvPr/>
        </p:nvSpPr>
        <p:spPr>
          <a:xfrm>
            <a:off x="274320" y="868680"/>
            <a:ext cx="54864" cy="1234440"/>
          </a:xfrm>
          <a:prstGeom prst="rect">
            <a:avLst/>
          </a:prstGeom>
          <a:solidFill>
            <a:srgbClr val="40916C"/>
          </a:solidFill>
          <a:ln/>
        </p:spPr>
      </p:sp>
      <p:sp>
        <p:nvSpPr>
          <p:cNvPr id="5" name="Shape 3"/>
          <p:cNvSpPr/>
          <p:nvPr/>
        </p:nvSpPr>
        <p:spPr>
          <a:xfrm>
            <a:off x="329184" y="868680"/>
            <a:ext cx="11466576" cy="1234440"/>
          </a:xfrm>
          <a:prstGeom prst="rect">
            <a:avLst/>
          </a:prstGeom>
          <a:solidFill>
            <a:srgbClr val="F6FDF8"/>
          </a:solidFill>
          <a:ln w="12700">
            <a:solidFill>
              <a:srgbClr val="E0F0E8"/>
            </a:solidFill>
            <a:prstDash val="solid"/>
          </a:ln>
        </p:spPr>
      </p:sp>
      <p:sp>
        <p:nvSpPr>
          <p:cNvPr id="6" name="Text 4"/>
          <p:cNvSpPr/>
          <p:nvPr/>
        </p:nvSpPr>
        <p:spPr>
          <a:xfrm>
            <a:off x="457200" y="923544"/>
            <a:ext cx="11247120" cy="292608"/>
          </a:xfrm>
          <a:prstGeom prst="rect">
            <a:avLst/>
          </a:prstGeom>
          <a:noFill/>
          <a:ln/>
        </p:spPr>
        <p:txBody>
          <a:bodyPr wrap="square" rtlCol="0" anchor="ctr"/>
          <a:lstStyle/>
          <a:p>
            <a:pPr indent="0" marL="0">
              <a:buNone/>
            </a:pPr>
            <a:r>
              <a:rPr lang="en-US" sz="1500" b="1" dirty="0">
                <a:solidFill>
                  <a:srgbClr val="2D6A4F"/>
                </a:solidFill>
                <a:latin typeface="Arial" pitchFamily="34" charset="0"/>
                <a:ea typeface="Arial" pitchFamily="34" charset="-122"/>
                <a:cs typeface="Arial" pitchFamily="34" charset="-120"/>
              </a:rPr>
              <a:t>①  一次受付をどうするか</a:t>
            </a:r>
            <a:endParaRPr lang="en-US" sz="1500" dirty="0"/>
          </a:p>
        </p:txBody>
      </p:sp>
      <p:sp>
        <p:nvSpPr>
          <p:cNvPr id="7" name="Text 5"/>
          <p:cNvSpPr/>
          <p:nvPr/>
        </p:nvSpPr>
        <p:spPr>
          <a:xfrm>
            <a:off x="457200" y="1216152"/>
            <a:ext cx="11247120" cy="832104"/>
          </a:xfrm>
          <a:prstGeom prst="rect">
            <a:avLst/>
          </a:prstGeom>
          <a:noFill/>
          <a:ln/>
        </p:spPr>
        <p:txBody>
          <a:bodyPr wrap="square" rtlCol="0" anchor="t"/>
          <a:lstStyle/>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宇部市在住のため（阿東町まで車で1.5時間）、急な問い合わせへの対応が難しい</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トイトイさんの既存事業（移動販売業務など）の妨げにならない形で、窓口をどう作るか検討したい</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訪問頻度については月1回に限らず、行けるときは積極的に伺いたい</a:t>
            </a:r>
            <a:endParaRPr lang="en-US" sz="1300" dirty="0"/>
          </a:p>
        </p:txBody>
      </p:sp>
      <p:sp>
        <p:nvSpPr>
          <p:cNvPr id="8" name="Shape 6"/>
          <p:cNvSpPr/>
          <p:nvPr/>
        </p:nvSpPr>
        <p:spPr>
          <a:xfrm>
            <a:off x="274320" y="2212848"/>
            <a:ext cx="54864" cy="1417320"/>
          </a:xfrm>
          <a:prstGeom prst="rect">
            <a:avLst/>
          </a:prstGeom>
          <a:solidFill>
            <a:srgbClr val="40916C"/>
          </a:solidFill>
          <a:ln/>
        </p:spPr>
      </p:sp>
      <p:sp>
        <p:nvSpPr>
          <p:cNvPr id="9" name="Shape 7"/>
          <p:cNvSpPr/>
          <p:nvPr/>
        </p:nvSpPr>
        <p:spPr>
          <a:xfrm>
            <a:off x="329184" y="2212848"/>
            <a:ext cx="11466576" cy="1417320"/>
          </a:xfrm>
          <a:prstGeom prst="rect">
            <a:avLst/>
          </a:prstGeom>
          <a:solidFill>
            <a:srgbClr val="F6FDF8"/>
          </a:solidFill>
          <a:ln w="12700">
            <a:solidFill>
              <a:srgbClr val="E0F0E8"/>
            </a:solidFill>
            <a:prstDash val="solid"/>
          </a:ln>
        </p:spPr>
      </p:sp>
      <p:sp>
        <p:nvSpPr>
          <p:cNvPr id="10" name="Text 8"/>
          <p:cNvSpPr/>
          <p:nvPr/>
        </p:nvSpPr>
        <p:spPr>
          <a:xfrm>
            <a:off x="457200" y="2267712"/>
            <a:ext cx="11247120" cy="292608"/>
          </a:xfrm>
          <a:prstGeom prst="rect">
            <a:avLst/>
          </a:prstGeom>
          <a:noFill/>
          <a:ln/>
        </p:spPr>
        <p:txBody>
          <a:bodyPr wrap="square" rtlCol="0" anchor="ctr"/>
          <a:lstStyle/>
          <a:p>
            <a:pPr indent="0" marL="0">
              <a:buNone/>
            </a:pPr>
            <a:r>
              <a:rPr lang="en-US" sz="1500" b="1" dirty="0">
                <a:solidFill>
                  <a:srgbClr val="2D6A4F"/>
                </a:solidFill>
                <a:latin typeface="Arial" pitchFamily="34" charset="0"/>
                <a:ea typeface="Arial" pitchFamily="34" charset="-122"/>
                <a:cs typeface="Arial" pitchFamily="34" charset="-120"/>
              </a:rPr>
              <a:t>②  料金についての相談</a:t>
            </a:r>
            <a:endParaRPr lang="en-US" sz="1500" dirty="0"/>
          </a:p>
        </p:txBody>
      </p:sp>
      <p:sp>
        <p:nvSpPr>
          <p:cNvPr id="11" name="Text 9"/>
          <p:cNvSpPr/>
          <p:nvPr/>
        </p:nvSpPr>
        <p:spPr>
          <a:xfrm>
            <a:off x="457200" y="2560320"/>
            <a:ext cx="11247120" cy="1014984"/>
          </a:xfrm>
          <a:prstGeom prst="rect">
            <a:avLst/>
          </a:prstGeom>
          <a:noFill/>
          <a:ln/>
        </p:spPr>
        <p:txBody>
          <a:bodyPr wrap="square" rtlCol="0" anchor="t"/>
          <a:lstStyle/>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現在の想定：機器設置代行・月次訪問・ご用聞きを含め、月額1.5万円（＋通信費）</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この料金設定について、率直なご意見をいただきたい</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1.5万円に見合うサービス内容とするならば、何が必要か。高田さん・トイトイさんの目線でアドバイスをいただきたい</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これまでの活動や実証実験等で活用された補助金についても、ぜひ教えていただきたい</a:t>
            </a:r>
            <a:endParaRPr lang="en-US" sz="1300" dirty="0"/>
          </a:p>
        </p:txBody>
      </p:sp>
      <p:sp>
        <p:nvSpPr>
          <p:cNvPr id="12" name="Shape 10"/>
          <p:cNvSpPr/>
          <p:nvPr/>
        </p:nvSpPr>
        <p:spPr>
          <a:xfrm>
            <a:off x="274320" y="3739896"/>
            <a:ext cx="54864" cy="822960"/>
          </a:xfrm>
          <a:prstGeom prst="rect">
            <a:avLst/>
          </a:prstGeom>
          <a:solidFill>
            <a:srgbClr val="40916C"/>
          </a:solidFill>
          <a:ln/>
        </p:spPr>
      </p:sp>
      <p:sp>
        <p:nvSpPr>
          <p:cNvPr id="13" name="Shape 11"/>
          <p:cNvSpPr/>
          <p:nvPr/>
        </p:nvSpPr>
        <p:spPr>
          <a:xfrm>
            <a:off x="329184" y="3739896"/>
            <a:ext cx="11466576" cy="822960"/>
          </a:xfrm>
          <a:prstGeom prst="rect">
            <a:avLst/>
          </a:prstGeom>
          <a:solidFill>
            <a:srgbClr val="F6FDF8"/>
          </a:solidFill>
          <a:ln w="12700">
            <a:solidFill>
              <a:srgbClr val="E0F0E8"/>
            </a:solidFill>
            <a:prstDash val="solid"/>
          </a:ln>
        </p:spPr>
      </p:sp>
      <p:sp>
        <p:nvSpPr>
          <p:cNvPr id="14" name="Text 12"/>
          <p:cNvSpPr/>
          <p:nvPr/>
        </p:nvSpPr>
        <p:spPr>
          <a:xfrm>
            <a:off x="457200" y="3794760"/>
            <a:ext cx="11247120" cy="292608"/>
          </a:xfrm>
          <a:prstGeom prst="rect">
            <a:avLst/>
          </a:prstGeom>
          <a:noFill/>
          <a:ln/>
        </p:spPr>
        <p:txBody>
          <a:bodyPr wrap="square" rtlCol="0" anchor="ctr"/>
          <a:lstStyle/>
          <a:p>
            <a:pPr indent="0" marL="0">
              <a:buNone/>
            </a:pPr>
            <a:r>
              <a:rPr lang="en-US" sz="1500" b="1" dirty="0">
                <a:solidFill>
                  <a:srgbClr val="2D6A4F"/>
                </a:solidFill>
                <a:latin typeface="Arial" pitchFamily="34" charset="0"/>
                <a:ea typeface="Arial" pitchFamily="34" charset="-122"/>
                <a:cs typeface="Arial" pitchFamily="34" charset="-120"/>
              </a:rPr>
              <a:t>③  その他、相談・確認事項</a:t>
            </a:r>
            <a:endParaRPr lang="en-US" sz="1500" dirty="0"/>
          </a:p>
        </p:txBody>
      </p:sp>
      <p:sp>
        <p:nvSpPr>
          <p:cNvPr id="15" name="Text 13"/>
          <p:cNvSpPr/>
          <p:nvPr/>
        </p:nvSpPr>
        <p:spPr>
          <a:xfrm>
            <a:off x="457200" y="4087368"/>
            <a:ext cx="11247120" cy="420624"/>
          </a:xfrm>
          <a:prstGeom prst="rect">
            <a:avLst/>
          </a:prstGeom>
          <a:noFill/>
          <a:ln/>
        </p:spPr>
        <p:txBody>
          <a:bodyPr wrap="square" rtlCol="0" anchor="t"/>
          <a:lstStyle/>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トイトイさん側でご要望・懸念点があればぜひ聞かせてください</a:t>
            </a:r>
            <a:endParaRPr lang="en-US" sz="1300" dirty="0"/>
          </a:p>
          <a:p>
            <a:pPr marL="190500" indent="-190500">
              <a:lnSpc>
                <a:spcPct val="120000"/>
              </a:lnSpc>
              <a:spcAft>
                <a:spcPts val="500"/>
              </a:spcAft>
              <a:buSzPct val="100000"/>
              <a:buChar char="•"/>
            </a:pPr>
            <a:r>
              <a:rPr lang="en-US" sz="1300" dirty="0">
                <a:solidFill>
                  <a:srgbClr val="444444"/>
                </a:solidFill>
                <a:latin typeface="Arial" pitchFamily="34" charset="0"/>
                <a:ea typeface="Arial" pitchFamily="34" charset="-122"/>
                <a:cs typeface="Arial" pitchFamily="34" charset="-120"/>
              </a:rPr>
              <a:t>実験をやってみて困ったことは随時相談しながら進めていきたいです</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
          </a:xfrm>
          <a:prstGeom prst="rect">
            <a:avLst/>
          </a:prstGeom>
          <a:solidFill>
            <a:srgbClr val="2D6A4F"/>
          </a:solidFill>
          <a:ln/>
        </p:spPr>
      </p:sp>
      <p:sp>
        <p:nvSpPr>
          <p:cNvPr id="3" name="Text 1"/>
          <p:cNvSpPr/>
          <p:nvPr/>
        </p:nvSpPr>
        <p:spPr>
          <a:xfrm>
            <a:off x="320040" y="0"/>
            <a:ext cx="1152144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まとめ</a:t>
            </a:r>
            <a:endParaRPr lang="en-US" sz="2400" dirty="0"/>
          </a:p>
        </p:txBody>
      </p:sp>
      <p:sp>
        <p:nvSpPr>
          <p:cNvPr id="4" name="Text 2"/>
          <p:cNvSpPr/>
          <p:nvPr/>
        </p:nvSpPr>
        <p:spPr>
          <a:xfrm>
            <a:off x="365760" y="914400"/>
            <a:ext cx="11430000" cy="1097280"/>
          </a:xfrm>
          <a:prstGeom prst="rect">
            <a:avLst/>
          </a:prstGeom>
          <a:noFill/>
          <a:ln/>
        </p:spPr>
        <p:txBody>
          <a:bodyPr wrap="square" rtlCol="0" anchor="ctr"/>
          <a:lstStyle/>
          <a:p>
            <a:pPr indent="0" marL="0">
              <a:lnSpc>
                <a:spcPct val="140000"/>
              </a:lnSpc>
              <a:buNone/>
            </a:pPr>
            <a:r>
              <a:rPr lang="en-US" sz="1600" dirty="0">
                <a:solidFill>
                  <a:srgbClr val="444444"/>
                </a:solidFill>
                <a:latin typeface="Arial" pitchFamily="34" charset="0"/>
                <a:ea typeface="Arial" pitchFamily="34" charset="-122"/>
                <a:cs typeface="Arial" pitchFamily="34" charset="-120"/>
              </a:rPr>
              <a:t>「まごすけみまもり隊」が技術・機器・ITの専門性を、「ほほえみの郷トイトイ」が地域・高齢者との深いつながりを持っています。</a:t>
            </a:r>
            <a:endParaRPr lang="en-US" sz="1600" dirty="0"/>
          </a:p>
          <a:p>
            <a:pPr indent="0" marL="0">
              <a:lnSpc>
                <a:spcPct val="140000"/>
              </a:lnSpc>
              <a:buNone/>
            </a:pPr>
            <a:r>
              <a:rPr lang="en-US" sz="1600" dirty="0">
                <a:solidFill>
                  <a:srgbClr val="444444"/>
                </a:solidFill>
                <a:latin typeface="Arial" pitchFamily="34" charset="0"/>
                <a:ea typeface="Arial" pitchFamily="34" charset="-122"/>
                <a:cs typeface="Arial" pitchFamily="34" charset="-120"/>
              </a:rPr>
              <a:t>現場のリアルに沿った実証実験を行い、阿東地域から高齢者問題に対する解決策を模索できればと思います。</a:t>
            </a:r>
            <a:endParaRPr lang="en-US" sz="1600" dirty="0"/>
          </a:p>
        </p:txBody>
      </p:sp>
      <p:sp>
        <p:nvSpPr>
          <p:cNvPr id="5" name="Text 3"/>
          <p:cNvSpPr/>
          <p:nvPr/>
        </p:nvSpPr>
        <p:spPr>
          <a:xfrm>
            <a:off x="365760" y="2194560"/>
            <a:ext cx="11430000" cy="320040"/>
          </a:xfrm>
          <a:prstGeom prst="rect">
            <a:avLst/>
          </a:prstGeom>
          <a:noFill/>
          <a:ln/>
        </p:spPr>
        <p:txBody>
          <a:bodyPr wrap="square" rtlCol="0" anchor="ctr"/>
          <a:lstStyle/>
          <a:p>
            <a:pPr indent="0" marL="0">
              <a:buNone/>
            </a:pPr>
            <a:r>
              <a:rPr lang="en-US" sz="1700" b="1" dirty="0">
                <a:solidFill>
                  <a:srgbClr val="40916C"/>
                </a:solidFill>
                <a:latin typeface="Arial" pitchFamily="34" charset="0"/>
                <a:ea typeface="Arial" pitchFamily="34" charset="-122"/>
                <a:cs typeface="Arial" pitchFamily="34" charset="-120"/>
              </a:rPr>
              <a:t>会議にてお話させていただきたいこと</a:t>
            </a:r>
            <a:endParaRPr lang="en-US" sz="1700" dirty="0"/>
          </a:p>
        </p:txBody>
      </p:sp>
      <p:sp>
        <p:nvSpPr>
          <p:cNvPr id="6" name="Text 4"/>
          <p:cNvSpPr/>
          <p:nvPr/>
        </p:nvSpPr>
        <p:spPr>
          <a:xfrm>
            <a:off x="365760" y="2560320"/>
            <a:ext cx="11430000" cy="1371600"/>
          </a:xfrm>
          <a:prstGeom prst="rect">
            <a:avLst/>
          </a:prstGeom>
          <a:noFill/>
          <a:ln/>
        </p:spPr>
        <p:txBody>
          <a:bodyPr wrap="square" rtlCol="0" anchor="t"/>
          <a:lstStyle/>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実証実験全体に関する方向性の確認</a:t>
            </a:r>
            <a:endParaRPr lang="en-US" sz="1700" dirty="0"/>
          </a:p>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実験に参加いただける高齢者の方の目処</a:t>
            </a:r>
            <a:endParaRPr lang="en-US" sz="1700" dirty="0"/>
          </a:p>
          <a:p>
            <a:pPr marL="190500" indent="-190500">
              <a:lnSpc>
                <a:spcPct val="120000"/>
              </a:lnSpc>
              <a:spcAft>
                <a:spcPts val="500"/>
              </a:spcAft>
              <a:buSzPct val="100000"/>
              <a:buChar char="•"/>
            </a:pPr>
            <a:r>
              <a:rPr lang="en-US" sz="1700" dirty="0">
                <a:solidFill>
                  <a:srgbClr val="444444"/>
                </a:solidFill>
                <a:latin typeface="Arial" pitchFamily="34" charset="0"/>
                <a:ea typeface="Arial" pitchFamily="34" charset="-122"/>
                <a:cs typeface="Arial" pitchFamily="34" charset="-120"/>
              </a:rPr>
              <a:t>一次受付・料金・補助金についての大まかな方向性</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2026-03-26T10:32:25Z</dcterms:created>
  <dcterms:modified xsi:type="dcterms:W3CDTF">2026-03-26T10:32:25Z</dcterms:modified>
</cp:coreProperties>
</file>